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4"/>
  </p:notesMasterIdLst>
  <p:sldIdLst>
    <p:sldId id="269" r:id="rId3"/>
    <p:sldId id="257" r:id="rId4"/>
    <p:sldId id="258" r:id="rId5"/>
    <p:sldId id="259" r:id="rId6"/>
    <p:sldId id="260" r:id="rId7"/>
    <p:sldId id="262" r:id="rId8"/>
    <p:sldId id="263" r:id="rId9"/>
    <p:sldId id="266" r:id="rId10"/>
    <p:sldId id="267" r:id="rId11"/>
    <p:sldId id="270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489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64D8-B5F7-05E5-B1D7-97C125AB4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1F700-214F-AD65-E1CA-61A0AB9E7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2"/>
          </a:xfrm>
        </p:spPr>
        <p:txBody>
          <a:bodyPr/>
          <a:lstStyle>
            <a:lvl1pPr marL="0" indent="0" algn="ctr">
              <a:buNone/>
              <a:defRPr sz="1799"/>
            </a:lvl1pPr>
            <a:lvl2pPr marL="342797" indent="0" algn="ctr">
              <a:buNone/>
              <a:defRPr sz="1499"/>
            </a:lvl2pPr>
            <a:lvl3pPr marL="685595" indent="0" algn="ctr">
              <a:buNone/>
              <a:defRPr sz="1349"/>
            </a:lvl3pPr>
            <a:lvl4pPr marL="1028392" indent="0" algn="ctr">
              <a:buNone/>
              <a:defRPr sz="1200"/>
            </a:lvl4pPr>
            <a:lvl5pPr marL="1371188" indent="0" algn="ctr">
              <a:buNone/>
              <a:defRPr sz="1200"/>
            </a:lvl5pPr>
            <a:lvl6pPr marL="1713986" indent="0" algn="ctr">
              <a:buNone/>
              <a:defRPr sz="1200"/>
            </a:lvl6pPr>
            <a:lvl7pPr marL="2056783" indent="0" algn="ctr">
              <a:buNone/>
              <a:defRPr sz="1200"/>
            </a:lvl7pPr>
            <a:lvl8pPr marL="2399580" indent="0" algn="ctr">
              <a:buNone/>
              <a:defRPr sz="1200"/>
            </a:lvl8pPr>
            <a:lvl9pPr marL="274237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E542E-E32B-BC44-DF9D-EB6C4489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CC71F-55FB-C8AB-84D4-A7573B90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E191C-9A1F-4997-6080-5C04C5D0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1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51B4-3E2C-5102-7DD1-14F34395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82FC-6888-94E4-41A7-AAFBDF732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FD190-19AE-D1A9-6EAA-20560897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CE2F1-820C-B84E-9F2F-7D50B1F12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BD12B-A6B7-9569-0BFC-E5230E61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1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31FB-EA12-004C-40AF-EEB52019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C1716-FFB5-9CDE-9E4C-F8FADBBFC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1pPr>
            <a:lvl2pPr marL="342797" indent="0">
              <a:buNone/>
              <a:defRPr sz="1499">
                <a:solidFill>
                  <a:schemeClr val="tx1">
                    <a:tint val="75000"/>
                  </a:schemeClr>
                </a:solidFill>
              </a:defRPr>
            </a:lvl2pPr>
            <a:lvl3pPr marL="685595" indent="0">
              <a:buNone/>
              <a:defRPr sz="1349">
                <a:solidFill>
                  <a:schemeClr val="tx1">
                    <a:tint val="75000"/>
                  </a:schemeClr>
                </a:solidFill>
              </a:defRPr>
            </a:lvl3pPr>
            <a:lvl4pPr marL="10283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18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39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5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37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7A5C6-845A-91A4-D1B5-9F1A4FD7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A0B1-20BA-D3F7-A57E-A1A2A7D1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CC465-65DE-72FA-A803-7781E87C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0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FE892-EFA6-A769-2C6D-6AE07920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E4D25-BF4C-F84B-3820-155E1FC19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A7BAC-37A3-4142-0CD7-0F8B5BC37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DF23A-5087-2A03-13D8-C646FA13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392F8-76B2-B346-8CAF-6B805B57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D06C5-C336-93C2-EFD6-A0139CE7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8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2939-95D0-47EE-61EB-040B50EFC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6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70126-6060-1DBC-E5E2-690F6B777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797" indent="0">
              <a:buNone/>
              <a:defRPr sz="1499" b="1"/>
            </a:lvl2pPr>
            <a:lvl3pPr marL="685595" indent="0">
              <a:buNone/>
              <a:defRPr sz="1349" b="1"/>
            </a:lvl3pPr>
            <a:lvl4pPr marL="1028392" indent="0">
              <a:buNone/>
              <a:defRPr sz="1200" b="1"/>
            </a:lvl4pPr>
            <a:lvl5pPr marL="1371188" indent="0">
              <a:buNone/>
              <a:defRPr sz="1200" b="1"/>
            </a:lvl5pPr>
            <a:lvl6pPr marL="1713986" indent="0">
              <a:buNone/>
              <a:defRPr sz="1200" b="1"/>
            </a:lvl6pPr>
            <a:lvl7pPr marL="2056783" indent="0">
              <a:buNone/>
              <a:defRPr sz="1200" b="1"/>
            </a:lvl7pPr>
            <a:lvl8pPr marL="2399580" indent="0">
              <a:buNone/>
              <a:defRPr sz="1200" b="1"/>
            </a:lvl8pPr>
            <a:lvl9pPr marL="274237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7BB06-6B49-B4FD-5CA7-F2B942AB0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2E159C-66A3-E9F0-9CCF-1695090C8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797" indent="0">
              <a:buNone/>
              <a:defRPr sz="1499" b="1"/>
            </a:lvl2pPr>
            <a:lvl3pPr marL="685595" indent="0">
              <a:buNone/>
              <a:defRPr sz="1349" b="1"/>
            </a:lvl3pPr>
            <a:lvl4pPr marL="1028392" indent="0">
              <a:buNone/>
              <a:defRPr sz="1200" b="1"/>
            </a:lvl4pPr>
            <a:lvl5pPr marL="1371188" indent="0">
              <a:buNone/>
              <a:defRPr sz="1200" b="1"/>
            </a:lvl5pPr>
            <a:lvl6pPr marL="1713986" indent="0">
              <a:buNone/>
              <a:defRPr sz="1200" b="1"/>
            </a:lvl6pPr>
            <a:lvl7pPr marL="2056783" indent="0">
              <a:buNone/>
              <a:defRPr sz="1200" b="1"/>
            </a:lvl7pPr>
            <a:lvl8pPr marL="2399580" indent="0">
              <a:buNone/>
              <a:defRPr sz="1200" b="1"/>
            </a:lvl8pPr>
            <a:lvl9pPr marL="274237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2A4040-1192-BDB7-EC93-F690C8D94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C9215-A2A7-D7DB-7FAF-1A50BBDD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1056C6-68B6-626E-EBA4-4600011A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7E2A9-CCFA-C466-798D-FD1BCFE4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9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0D1AE-B4E3-A46E-5E4B-EE5D7FC9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33B64-EA31-2C0A-9837-3ED3C969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3A02B-115F-6EC4-CB6B-73CDDE23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6400B-FC9E-1DBF-5A85-58217CE3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8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89291-42C1-803C-91F3-13D6B691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87886-F9C4-79B2-3F87-DEC657D6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A8A31-8E9F-FEC9-9571-188C3D1A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4AF44-13FE-45B2-F913-DF77856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399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3BDD2-196A-976A-D368-5B43F1CB6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399"/>
            </a:lvl1pPr>
            <a:lvl2pPr>
              <a:defRPr sz="2099"/>
            </a:lvl2pPr>
            <a:lvl3pPr>
              <a:defRPr sz="1799"/>
            </a:lvl3pPr>
            <a:lvl4pPr>
              <a:defRPr sz="1499"/>
            </a:lvl4pPr>
            <a:lvl5pPr>
              <a:defRPr sz="1499"/>
            </a:lvl5pPr>
            <a:lvl6pPr>
              <a:defRPr sz="1499"/>
            </a:lvl6pPr>
            <a:lvl7pPr>
              <a:defRPr sz="1499"/>
            </a:lvl7pPr>
            <a:lvl8pPr>
              <a:defRPr sz="1499"/>
            </a:lvl8pPr>
            <a:lvl9pPr>
              <a:defRPr sz="14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BC470-4918-8097-2540-5D2FF378B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2C7F2-E45B-E148-046A-215A957A8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65CBB-0DBD-3455-AA18-BDC317D8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AEA5D-5F45-6181-3287-DBC22923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1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9330-790A-7CD2-2E39-65F4747B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399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439DB-1F44-30EE-5232-1134C8C53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399"/>
            </a:lvl1pPr>
            <a:lvl2pPr marL="342797" indent="0">
              <a:buNone/>
              <a:defRPr sz="2099"/>
            </a:lvl2pPr>
            <a:lvl3pPr marL="685595" indent="0">
              <a:buNone/>
              <a:defRPr sz="1799"/>
            </a:lvl3pPr>
            <a:lvl4pPr marL="1028392" indent="0">
              <a:buNone/>
              <a:defRPr sz="1499"/>
            </a:lvl4pPr>
            <a:lvl5pPr marL="1371188" indent="0">
              <a:buNone/>
              <a:defRPr sz="1499"/>
            </a:lvl5pPr>
            <a:lvl6pPr marL="1713986" indent="0">
              <a:buNone/>
              <a:defRPr sz="1499"/>
            </a:lvl6pPr>
            <a:lvl7pPr marL="2056783" indent="0">
              <a:buNone/>
              <a:defRPr sz="1499"/>
            </a:lvl7pPr>
            <a:lvl8pPr marL="2399580" indent="0">
              <a:buNone/>
              <a:defRPr sz="1499"/>
            </a:lvl8pPr>
            <a:lvl9pPr marL="2742377" indent="0">
              <a:buNone/>
              <a:defRPr sz="1499"/>
            </a:lvl9pPr>
          </a:lstStyle>
          <a:p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8D301-2A51-121E-2786-122582B15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D5D2B-4535-CFDE-AB12-DCB9846E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FCD3A-4AF9-52E5-E491-F6C7705B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2F0E3-9CF6-3E26-D68B-878D3E68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6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15C1-2191-096B-63CB-905349F2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DB483-7E53-E13C-1B7E-B06E177A0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7BD3-7D39-A58E-0DAC-C5C39C0B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610F8-573C-0FC8-4E94-19B4AAB8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5D37D-5E64-0D1F-3C4F-DFD09DF6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8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DBFAF-DAE0-7C2B-7445-9F10BD1AA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C5AC8-93DB-3B57-646D-4794A4DBF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57783-DF63-ABA8-4EC1-4AC2B48A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C28DE-102E-C4BD-5F86-5CC5E649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AC225-B8D7-261F-F312-31595829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3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F68B5-90A2-C0BF-A5A1-5D892B1C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1FA18-120D-BD5E-4F0A-868598052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1AD0A-644A-DBF4-7DFB-AD6DFD67E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46814-2112-B9A8-2768-993922D0B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EA2CC-EAEA-F70A-34C6-C059EAE25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595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398" indent="-171398" algn="l" defTabSz="6855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196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856993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199790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542587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885385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228181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570978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913776" indent="-171398" algn="l" defTabSz="68559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W"/>
      </a:defPPr>
      <a:lvl1pPr marL="0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97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595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392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188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986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783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580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377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8276" y="4663440"/>
            <a:ext cx="3352200" cy="196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/>
            <a:r>
              <a:rPr sz="675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Communication Technology  |  RP Huye College  |  2025–2026</a:t>
            </a:r>
          </a:p>
        </p:txBody>
      </p:sp>
      <p:pic>
        <p:nvPicPr>
          <p:cNvPr id="12" name="Picture 11" descr="RP_Logo">
            <a:extLst>
              <a:ext uri="{FF2B5EF4-FFF2-40B4-BE49-F238E27FC236}">
                <a16:creationId xmlns:a16="http://schemas.microsoft.com/office/drawing/2014/main" id="{A4276C3E-3D89-5844-8EAC-82BAA1EF5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83" y="541257"/>
            <a:ext cx="1018234" cy="54352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EF7C77C2-3457-ADC9-FD72-F76F49C174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Money Fraud Detection System</a:t>
            </a: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W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FC018533-5FE0-4F1F-91D6-D610CC4898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RUHAMO Rose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 Mrs. BIZIMANA Judith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0302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 dirty="0"/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Background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Context and rationale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0" y="201168"/>
            <a:ext cx="1664208" cy="1499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8" name="Text 6"/>
          <p:cNvSpPr/>
          <p:nvPr/>
        </p:nvSpPr>
        <p:spPr>
          <a:xfrm>
            <a:off x="3657600" y="256032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0" y="932688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money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in Rwanda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0" y="201168"/>
            <a:ext cx="1664208" cy="14996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RW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0" y="256032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0" y="932688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suffered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</a:t>
            </a:r>
          </a:p>
        </p:txBody>
      </p:sp>
      <p:sp>
        <p:nvSpPr>
          <p:cNvPr id="13" name="Shape 11"/>
          <p:cNvSpPr/>
          <p:nvPr/>
        </p:nvSpPr>
        <p:spPr>
          <a:xfrm>
            <a:off x="7315200" y="201168"/>
            <a:ext cx="1664208" cy="1499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14" name="Text 12"/>
          <p:cNvSpPr/>
          <p:nvPr/>
        </p:nvSpPr>
        <p:spPr>
          <a:xfrm>
            <a:off x="7315200" y="256032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5,852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0" y="932688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cases 2023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1,619 in 2019)</a:t>
            </a:r>
          </a:p>
        </p:txBody>
      </p:sp>
      <p:sp>
        <p:nvSpPr>
          <p:cNvPr id="16" name="Shape 14"/>
          <p:cNvSpPr/>
          <p:nvPr/>
        </p:nvSpPr>
        <p:spPr>
          <a:xfrm>
            <a:off x="3611880" y="1883664"/>
            <a:ext cx="5303520" cy="8778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8" name="Text 16"/>
          <p:cNvSpPr/>
          <p:nvPr/>
        </p:nvSpPr>
        <p:spPr>
          <a:xfrm>
            <a:off x="3739896" y="19385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MoMo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Shield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39896" y="2194560"/>
            <a:ext cx="5138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ML-powered fraud detection system for Rwanda mobile money (MTN ) combining XGBoost machine learning, biometric face verification, and explainable AI.</a:t>
            </a:r>
          </a:p>
        </p:txBody>
      </p:sp>
      <p:sp>
        <p:nvSpPr>
          <p:cNvPr id="20" name="Shape 18"/>
          <p:cNvSpPr/>
          <p:nvPr/>
        </p:nvSpPr>
        <p:spPr>
          <a:xfrm>
            <a:off x="3611880" y="2907792"/>
            <a:ext cx="5303520" cy="8778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22" name="Text 20"/>
          <p:cNvSpPr/>
          <p:nvPr/>
        </p:nvSpPr>
        <p:spPr>
          <a:xfrm>
            <a:off x="3739896" y="2962656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this needed?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739896" y="3218688"/>
            <a:ext cx="5138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Rwanda's financial sector relies heavily on mobile money, yet fraud incidents have grown 261% in 4 years. Existing manual and rule-only systems cannot keep pace with evolving attack patterns.</a:t>
            </a:r>
          </a:p>
        </p:txBody>
      </p:sp>
      <p:sp>
        <p:nvSpPr>
          <p:cNvPr id="24" name="Shape 22"/>
          <p:cNvSpPr/>
          <p:nvPr/>
        </p:nvSpPr>
        <p:spPr>
          <a:xfrm>
            <a:off x="3611880" y="3931920"/>
            <a:ext cx="5303520" cy="8778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26" name="Text 24"/>
          <p:cNvSpPr/>
          <p:nvPr/>
        </p:nvSpPr>
        <p:spPr>
          <a:xfrm>
            <a:off x="3739896" y="3986784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benefits?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39896" y="4242816"/>
            <a:ext cx="5138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(secure transfers), managers (real-time fraud alerts), administrators (system control) — and ultimately Rwanda's digital financial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/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questions &amp; gaps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11880" y="237744"/>
            <a:ext cx="5239512" cy="237744"/>
          </a:xfrm>
          <a:prstGeom prst="rect">
            <a:avLst/>
          </a:prstGeom>
          <a:noFill/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502920"/>
            <a:ext cx="5102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Rwanda mobile money users lack a real-time, ML-powered fraud detection layer that combines machine learning scoring, biometric identity confirmation, and transparent decision explanations - leaving customers, managers and administrators with no integrated defence against evolving fraud patterns.</a:t>
            </a:r>
          </a:p>
        </p:txBody>
      </p:sp>
      <p:sp>
        <p:nvSpPr>
          <p:cNvPr id="11" name="Text 9"/>
          <p:cNvSpPr/>
          <p:nvPr/>
        </p:nvSpPr>
        <p:spPr>
          <a:xfrm>
            <a:off x="3611880" y="1499616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11880" y="1828800"/>
            <a:ext cx="532180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4" name="Text 12"/>
          <p:cNvSpPr/>
          <p:nvPr/>
        </p:nvSpPr>
        <p:spPr>
          <a:xfrm rot="10800000" flipV="1">
            <a:off x="3675888" y="2024743"/>
            <a:ext cx="484632" cy="4816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51960" y="19202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accurately can an XGBoost hybrid model detect fraudulent mobile money transactions?</a:t>
            </a:r>
          </a:p>
        </p:txBody>
      </p:sp>
      <p:sp>
        <p:nvSpPr>
          <p:cNvPr id="16" name="Shape 14"/>
          <p:cNvSpPr/>
          <p:nvPr/>
        </p:nvSpPr>
        <p:spPr>
          <a:xfrm>
            <a:off x="3611880" y="2889504"/>
            <a:ext cx="532180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8" name="Text 16"/>
          <p:cNvSpPr/>
          <p:nvPr/>
        </p:nvSpPr>
        <p:spPr>
          <a:xfrm>
            <a:off x="3703320" y="3077936"/>
            <a:ext cx="457200" cy="4516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51960" y="29809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effective is biometric face verification in preventing identity fraud during high-risk transfers?</a:t>
            </a:r>
          </a:p>
        </p:txBody>
      </p:sp>
      <p:sp>
        <p:nvSpPr>
          <p:cNvPr id="20" name="Shape 18"/>
          <p:cNvSpPr/>
          <p:nvPr/>
        </p:nvSpPr>
        <p:spPr>
          <a:xfrm>
            <a:off x="3611880" y="3950208"/>
            <a:ext cx="5321808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22" name="Text 20"/>
          <p:cNvSpPr/>
          <p:nvPr/>
        </p:nvSpPr>
        <p:spPr>
          <a:xfrm>
            <a:off x="3703320" y="4133089"/>
            <a:ext cx="457200" cy="5074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51960" y="40416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what extent can a 3-tier XAI framework make fraud decisions transparent to all user roles?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&amp; specific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03320" y="464875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89604" y="862149"/>
            <a:ext cx="5074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ML-powered mobile money fraud detection system that detects fraud to protect users in Rwanda.</a:t>
            </a:r>
          </a:p>
        </p:txBody>
      </p:sp>
      <p:sp>
        <p:nvSpPr>
          <p:cNvPr id="10" name="Text 8"/>
          <p:cNvSpPr/>
          <p:nvPr/>
        </p:nvSpPr>
        <p:spPr>
          <a:xfrm>
            <a:off x="3648456" y="1593669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1880" y="1993392"/>
            <a:ext cx="2578608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O1. Develop ML fraud detection</a:t>
            </a:r>
          </a:p>
          <a:p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11880" y="3310128"/>
            <a:ext cx="2578608" cy="11704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17" name="Text 15"/>
          <p:cNvSpPr/>
          <p:nvPr/>
        </p:nvSpPr>
        <p:spPr>
          <a:xfrm>
            <a:off x="3689604" y="2468880"/>
            <a:ext cx="2496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O2 . Implement biometric verification</a:t>
            </a:r>
          </a:p>
        </p:txBody>
      </p:sp>
      <p:sp>
        <p:nvSpPr>
          <p:cNvPr id="21" name="Text 19"/>
          <p:cNvSpPr/>
          <p:nvPr/>
        </p:nvSpPr>
        <p:spPr>
          <a:xfrm>
            <a:off x="3666744" y="31821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O3 . Build 3-tier Explainable AI</a:t>
            </a:r>
          </a:p>
        </p:txBody>
      </p:sp>
      <p:sp>
        <p:nvSpPr>
          <p:cNvPr id="23" name="Shape 21"/>
          <p:cNvSpPr/>
          <p:nvPr/>
        </p:nvSpPr>
        <p:spPr>
          <a:xfrm>
            <a:off x="6318504" y="3310128"/>
            <a:ext cx="2578608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25" name="Text 23"/>
          <p:cNvSpPr/>
          <p:nvPr/>
        </p:nvSpPr>
        <p:spPr>
          <a:xfrm>
            <a:off x="3689604" y="3823498"/>
            <a:ext cx="2468880" cy="64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O4 . Develop role-based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&amp; development approach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49040" y="201168"/>
            <a:ext cx="694944" cy="694944"/>
          </a:xfrm>
          <a:prstGeom prst="ellips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8" name="Text 6"/>
          <p:cNvSpPr/>
          <p:nvPr/>
        </p:nvSpPr>
        <p:spPr>
          <a:xfrm>
            <a:off x="3749040" y="201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0" y="950976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10" name="Shape 8"/>
          <p:cNvSpPr/>
          <p:nvPr/>
        </p:nvSpPr>
        <p:spPr>
          <a:xfrm>
            <a:off x="4443984" y="512064"/>
            <a:ext cx="1097280" cy="54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11" name="Shape 9"/>
          <p:cNvSpPr/>
          <p:nvPr/>
        </p:nvSpPr>
        <p:spPr>
          <a:xfrm>
            <a:off x="5541264" y="201168"/>
            <a:ext cx="694944" cy="694944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2" name="Text 10"/>
          <p:cNvSpPr/>
          <p:nvPr/>
        </p:nvSpPr>
        <p:spPr>
          <a:xfrm>
            <a:off x="5541264" y="201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9824" y="950976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Training</a:t>
            </a:r>
          </a:p>
        </p:txBody>
      </p:sp>
      <p:sp>
        <p:nvSpPr>
          <p:cNvPr id="14" name="Shape 12"/>
          <p:cNvSpPr/>
          <p:nvPr/>
        </p:nvSpPr>
        <p:spPr>
          <a:xfrm>
            <a:off x="6236208" y="512064"/>
            <a:ext cx="1097280" cy="54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15" name="Shape 13"/>
          <p:cNvSpPr/>
          <p:nvPr/>
        </p:nvSpPr>
        <p:spPr>
          <a:xfrm>
            <a:off x="7333488" y="201168"/>
            <a:ext cx="694944" cy="694944"/>
          </a:xfrm>
          <a:prstGeom prst="ellipse">
            <a:avLst/>
          </a:prstGeom>
          <a:noFill/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6" name="Text 14"/>
          <p:cNvSpPr/>
          <p:nvPr/>
        </p:nvSpPr>
        <p:spPr>
          <a:xfrm>
            <a:off x="7333488" y="201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42048" y="950976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18" name="Shape 16"/>
          <p:cNvSpPr/>
          <p:nvPr/>
        </p:nvSpPr>
        <p:spPr>
          <a:xfrm>
            <a:off x="3611880" y="1572768"/>
            <a:ext cx="2578608" cy="15910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20" name="Text 18"/>
          <p:cNvSpPr/>
          <p:nvPr/>
        </p:nvSpPr>
        <p:spPr>
          <a:xfrm>
            <a:off x="3703320" y="1600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Training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03320" y="19019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dataset (200K+ transactions). SMOTE oversampling to handle  class imbalance and Model training</a:t>
            </a:r>
          </a:p>
        </p:txBody>
      </p:sp>
      <p:sp>
        <p:nvSpPr>
          <p:cNvPr id="24" name="Text 22"/>
          <p:cNvSpPr/>
          <p:nvPr/>
        </p:nvSpPr>
        <p:spPr>
          <a:xfrm>
            <a:off x="6409944" y="1600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Tools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9944" y="19019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ERD (PostgreSQL schema, 15 tables). React + Vite frontend. Flask REST API backend. Iterative SDLC.</a:t>
            </a:r>
          </a:p>
        </p:txBody>
      </p:sp>
      <p:sp>
        <p:nvSpPr>
          <p:cNvPr id="26" name="Shape 24"/>
          <p:cNvSpPr/>
          <p:nvPr/>
        </p:nvSpPr>
        <p:spPr>
          <a:xfrm>
            <a:off x="3611880" y="3291840"/>
            <a:ext cx="2578608" cy="15910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28" name="Text 26"/>
          <p:cNvSpPr/>
          <p:nvPr/>
        </p:nvSpPr>
        <p:spPr>
          <a:xfrm>
            <a:off x="3703320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Approach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703320" y="3621024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 test cases covering all user roles.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benchmarking . 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accuracy test </a:t>
            </a:r>
          </a:p>
        </p:txBody>
      </p:sp>
      <p:sp>
        <p:nvSpPr>
          <p:cNvPr id="30" name="Shape 28"/>
          <p:cNvSpPr/>
          <p:nvPr/>
        </p:nvSpPr>
        <p:spPr>
          <a:xfrm>
            <a:off x="6318504" y="3291840"/>
            <a:ext cx="2578608" cy="15910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 dirty="0"/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Workflow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6-stage security flow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03320" y="256032"/>
            <a:ext cx="676656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8" name="Text 6"/>
          <p:cNvSpPr/>
          <p:nvPr/>
        </p:nvSpPr>
        <p:spPr>
          <a:xfrm>
            <a:off x="3703320" y="2560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84448" y="987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</a:p>
        </p:txBody>
      </p:sp>
      <p:sp>
        <p:nvSpPr>
          <p:cNvPr id="10" name="Shape 8"/>
          <p:cNvSpPr/>
          <p:nvPr/>
        </p:nvSpPr>
        <p:spPr>
          <a:xfrm>
            <a:off x="4379976" y="566928"/>
            <a:ext cx="237744" cy="54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11" name="Shape 9"/>
          <p:cNvSpPr/>
          <p:nvPr/>
        </p:nvSpPr>
        <p:spPr>
          <a:xfrm>
            <a:off x="4617720" y="256032"/>
            <a:ext cx="676656" cy="6766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RW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"/>
            <a:ext cx="676656" cy="6766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98848" y="987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 Check</a:t>
            </a:r>
          </a:p>
        </p:txBody>
      </p:sp>
      <p:sp>
        <p:nvSpPr>
          <p:cNvPr id="14" name="Shape 12"/>
          <p:cNvSpPr/>
          <p:nvPr/>
        </p:nvSpPr>
        <p:spPr>
          <a:xfrm>
            <a:off x="5294376" y="566928"/>
            <a:ext cx="237744" cy="54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15" name="Shape 13"/>
          <p:cNvSpPr/>
          <p:nvPr/>
        </p:nvSpPr>
        <p:spPr>
          <a:xfrm>
            <a:off x="5532120" y="256032"/>
            <a:ext cx="676656" cy="676656"/>
          </a:xfrm>
          <a:prstGeom prst="ellips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6" name="Text 14"/>
          <p:cNvSpPr/>
          <p:nvPr/>
        </p:nvSpPr>
        <p:spPr>
          <a:xfrm>
            <a:off x="5532120" y="2560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13248" y="987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Gating</a:t>
            </a:r>
          </a:p>
        </p:txBody>
      </p:sp>
      <p:sp>
        <p:nvSpPr>
          <p:cNvPr id="18" name="Shape 16"/>
          <p:cNvSpPr/>
          <p:nvPr/>
        </p:nvSpPr>
        <p:spPr>
          <a:xfrm>
            <a:off x="6208776" y="566928"/>
            <a:ext cx="237744" cy="54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19" name="Shape 17"/>
          <p:cNvSpPr/>
          <p:nvPr/>
        </p:nvSpPr>
        <p:spPr>
          <a:xfrm>
            <a:off x="6446520" y="256032"/>
            <a:ext cx="676656" cy="676656"/>
          </a:xfrm>
          <a:prstGeom prst="ellips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RW" dirty="0"/>
          </a:p>
        </p:txBody>
      </p:sp>
      <p:sp>
        <p:nvSpPr>
          <p:cNvPr id="20" name="Text 18"/>
          <p:cNvSpPr/>
          <p:nvPr/>
        </p:nvSpPr>
        <p:spPr>
          <a:xfrm>
            <a:off x="6446520" y="2560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27648" y="987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</a:p>
        </p:txBody>
      </p:sp>
      <p:sp>
        <p:nvSpPr>
          <p:cNvPr id="22" name="Shape 20"/>
          <p:cNvSpPr/>
          <p:nvPr/>
        </p:nvSpPr>
        <p:spPr>
          <a:xfrm>
            <a:off x="7123176" y="566928"/>
            <a:ext cx="237744" cy="54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23" name="Shape 21"/>
          <p:cNvSpPr/>
          <p:nvPr/>
        </p:nvSpPr>
        <p:spPr>
          <a:xfrm>
            <a:off x="7360920" y="256032"/>
            <a:ext cx="676656" cy="676656"/>
          </a:xfrm>
          <a:prstGeom prst="ellips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24" name="Text 22"/>
          <p:cNvSpPr/>
          <p:nvPr/>
        </p:nvSpPr>
        <p:spPr>
          <a:xfrm>
            <a:off x="7360920" y="2560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42048" y="987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Override</a:t>
            </a:r>
          </a:p>
        </p:txBody>
      </p:sp>
      <p:sp>
        <p:nvSpPr>
          <p:cNvPr id="26" name="Shape 24"/>
          <p:cNvSpPr/>
          <p:nvPr/>
        </p:nvSpPr>
        <p:spPr>
          <a:xfrm>
            <a:off x="8037576" y="566928"/>
            <a:ext cx="237744" cy="54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27" name="Shape 25"/>
          <p:cNvSpPr/>
          <p:nvPr/>
        </p:nvSpPr>
        <p:spPr>
          <a:xfrm>
            <a:off x="8275320" y="256032"/>
            <a:ext cx="676656" cy="676656"/>
          </a:xfrm>
          <a:prstGeom prst="ellipse">
            <a:avLst/>
          </a:prstGeom>
          <a:noFill/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28" name="Text 26"/>
          <p:cNvSpPr/>
          <p:nvPr/>
        </p:nvSpPr>
        <p:spPr>
          <a:xfrm>
            <a:off x="8275320" y="25603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56448" y="987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</a:p>
        </p:txBody>
      </p:sp>
      <p:sp>
        <p:nvSpPr>
          <p:cNvPr id="30" name="Shape 28"/>
          <p:cNvSpPr/>
          <p:nvPr/>
        </p:nvSpPr>
        <p:spPr>
          <a:xfrm>
            <a:off x="3611880" y="1609344"/>
            <a:ext cx="5321808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32" name="Shape 30"/>
          <p:cNvSpPr/>
          <p:nvPr/>
        </p:nvSpPr>
        <p:spPr>
          <a:xfrm>
            <a:off x="3749040" y="1737360"/>
            <a:ext cx="914400" cy="2560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33" name="Text 31"/>
          <p:cNvSpPr/>
          <p:nvPr/>
        </p:nvSpPr>
        <p:spPr>
          <a:xfrm>
            <a:off x="374904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36592" y="1700784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verified → amount deducted → transfer recorded → history updated → receipt returned.</a:t>
            </a:r>
          </a:p>
        </p:txBody>
      </p:sp>
      <p:sp>
        <p:nvSpPr>
          <p:cNvPr id="35" name="Shape 33"/>
          <p:cNvSpPr/>
          <p:nvPr/>
        </p:nvSpPr>
        <p:spPr>
          <a:xfrm>
            <a:off x="3611880" y="2743200"/>
            <a:ext cx="5321808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/>
          </a:p>
        </p:txBody>
      </p:sp>
      <p:sp>
        <p:nvSpPr>
          <p:cNvPr id="37" name="Shape 35"/>
          <p:cNvSpPr/>
          <p:nvPr/>
        </p:nvSpPr>
        <p:spPr>
          <a:xfrm>
            <a:off x="3749040" y="2871216"/>
            <a:ext cx="914400" cy="4023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/>
          </a:p>
        </p:txBody>
      </p:sp>
      <p:sp>
        <p:nvSpPr>
          <p:cNvPr id="38" name="Text 36"/>
          <p:cNvSpPr/>
          <p:nvPr/>
        </p:nvSpPr>
        <p:spPr>
          <a:xfrm>
            <a:off x="3749040" y="28712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FACE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36592" y="28346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score detected → frontend camera challenge issued → live selfie captured → face compared → re-evaluate.</a:t>
            </a:r>
          </a:p>
        </p:txBody>
      </p:sp>
      <p:sp>
        <p:nvSpPr>
          <p:cNvPr id="40" name="Shape 38"/>
          <p:cNvSpPr/>
          <p:nvPr/>
        </p:nvSpPr>
        <p:spPr>
          <a:xfrm>
            <a:off x="3611880" y="3877056"/>
            <a:ext cx="5321808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 dirty="0"/>
          </a:p>
        </p:txBody>
      </p:sp>
      <p:sp>
        <p:nvSpPr>
          <p:cNvPr id="42" name="Shape 40"/>
          <p:cNvSpPr/>
          <p:nvPr/>
        </p:nvSpPr>
        <p:spPr>
          <a:xfrm>
            <a:off x="3749040" y="4005072"/>
            <a:ext cx="914400" cy="256032"/>
          </a:xfrm>
          <a:prstGeom prst="rect">
            <a:avLst/>
          </a:prstGeom>
          <a:noFill/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43" name="Text 41"/>
          <p:cNvSpPr/>
          <p:nvPr/>
        </p:nvSpPr>
        <p:spPr>
          <a:xfrm>
            <a:off x="3749040" y="4005072"/>
            <a:ext cx="914400" cy="2560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36592" y="3968496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rule triggered or face mismatch → transfer rejected → fraud alert created → manager dashboard notified.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63040" y="-457200"/>
            <a:ext cx="1280160" cy="128016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Comparative</a:t>
            </a:r>
            <a:r>
              <a:rPr lang="en-US" sz="95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749040" y="3017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 —  Best Overall Performance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5D309E83-DCC5-01EB-02CE-9E2700E34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730" y="292601"/>
            <a:ext cx="5467300" cy="4205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Scalability &amp;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Sustainability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Economic &amp; social impact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03320" y="210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System Growth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03320" y="530352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React + Flask architecture  add new fraud rules, ML models, or user roles independently. PostgreSQL scales to millions of transactions with no schema changes.</a:t>
            </a:r>
          </a:p>
        </p:txBody>
      </p:sp>
      <p:sp>
        <p:nvSpPr>
          <p:cNvPr id="11" name="Shape 9"/>
          <p:cNvSpPr/>
          <p:nvPr/>
        </p:nvSpPr>
        <p:spPr>
          <a:xfrm>
            <a:off x="6336792" y="182880"/>
            <a:ext cx="2578608" cy="22677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6792" y="182880"/>
            <a:ext cx="2578608" cy="27432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RW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28232" y="210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Long-Term Costs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28232" y="530352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open-source (React, Flask, PostgreSQL, XGBoost, face_recognition) , zero licensing fees. Automated blocking cuts manual fraud review costs significantly for financial institutions.</a:t>
            </a:r>
          </a:p>
        </p:txBody>
      </p:sp>
      <p:sp>
        <p:nvSpPr>
          <p:cNvPr id="15" name="Shape 13"/>
          <p:cNvSpPr/>
          <p:nvPr/>
        </p:nvSpPr>
        <p:spPr>
          <a:xfrm>
            <a:off x="3611880" y="2615184"/>
            <a:ext cx="2578608" cy="22677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11880" y="2615184"/>
            <a:ext cx="2578608" cy="27432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RW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03320" y="26426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Economic Impact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03320" y="2962656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Rwanda's unbanked population who depend on mobile money. Reduces financial losses due to fraud. Builds public trust in digital financial services, supporting Rwanda's Vision 2050 financial inclusion goals.</a:t>
            </a:r>
          </a:p>
        </p:txBody>
      </p:sp>
      <p:sp>
        <p:nvSpPr>
          <p:cNvPr id="19" name="Shape 17"/>
          <p:cNvSpPr/>
          <p:nvPr/>
        </p:nvSpPr>
        <p:spPr>
          <a:xfrm>
            <a:off x="6336792" y="2615184"/>
            <a:ext cx="2578608" cy="22677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6792" y="2615184"/>
            <a:ext cx="2578608" cy="27432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RW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28232" y="264261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28232" y="2962656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live MTN Rwanda  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APIs. Continuous model retraining on real transaction data. Mobile app development. Expansion to other East African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RW" dirty="0"/>
          </a:p>
        </p:txBody>
      </p:sp>
      <p:sp>
        <p:nvSpPr>
          <p:cNvPr id="5" name="Text 3"/>
          <p:cNvSpPr/>
          <p:nvPr/>
        </p:nvSpPr>
        <p:spPr>
          <a:xfrm>
            <a:off x="201168" y="1188720"/>
            <a:ext cx="3072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Research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Answers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3977640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11880" y="182880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11880" y="493776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hybrid system achieves ROC-AUC 0.9728, outperforming all five baseline models</a:t>
            </a:r>
          </a:p>
        </p:txBody>
      </p:sp>
      <p:sp>
        <p:nvSpPr>
          <p:cNvPr id="9" name="Text 7"/>
          <p:cNvSpPr/>
          <p:nvPr/>
        </p:nvSpPr>
        <p:spPr>
          <a:xfrm>
            <a:off x="3611880" y="969264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Biometric face verification successfully gates identity-sensitive high-risk transfers</a:t>
            </a:r>
          </a:p>
        </p:txBody>
      </p:sp>
      <p:sp>
        <p:nvSpPr>
          <p:cNvPr id="10" name="Text 8"/>
          <p:cNvSpPr/>
          <p:nvPr/>
        </p:nvSpPr>
        <p:spPr>
          <a:xfrm>
            <a:off x="3611880" y="1444752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3-tier XAI (rule summary · feature bars · SHAP) delivers role-appropriate transparency</a:t>
            </a:r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5321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optimisation (0.38) improved fraud recall without sacrificing overall accuracy</a:t>
            </a:r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 — Answered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49040" y="28620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RQ1 — How accurately?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49040" y="31363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F1=0.7223, AUC=0.9728, threshold optimised to 0.38 </a:t>
            </a:r>
          </a:p>
        </p:txBody>
      </p:sp>
      <p:sp>
        <p:nvSpPr>
          <p:cNvPr id="19" name="Text 17"/>
          <p:cNvSpPr/>
          <p:nvPr/>
        </p:nvSpPr>
        <p:spPr>
          <a:xfrm>
            <a:off x="3749040" y="36118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RQ2 — How effective is biometrics?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3886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on mismatch or absent face — 15/15 functional tests passed</a:t>
            </a:r>
          </a:p>
        </p:txBody>
      </p:sp>
      <p:sp>
        <p:nvSpPr>
          <p:cNvPr id="23" name="Text 21"/>
          <p:cNvSpPr/>
          <p:nvPr/>
        </p:nvSpPr>
        <p:spPr>
          <a:xfrm>
            <a:off x="3749040" y="436168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RQ3 — How transparent?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49040" y="4636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summary → customer; feature bar chart → manager; deep SHAP → admin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B59E14-16C9-022D-5693-75956773C89E}"/>
              </a:ext>
            </a:extLst>
          </p:cNvPr>
          <p:cNvSpPr/>
          <p:nvPr/>
        </p:nvSpPr>
        <p:spPr>
          <a:xfrm>
            <a:off x="-57150" y="97971"/>
            <a:ext cx="3474720" cy="5143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  <a:endParaRPr lang="en-R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57FB1-117E-6D76-0197-E1C288D0C55C}"/>
              </a:ext>
            </a:extLst>
          </p:cNvPr>
          <p:cNvSpPr txBox="1"/>
          <p:nvPr/>
        </p:nvSpPr>
        <p:spPr>
          <a:xfrm>
            <a:off x="3818845" y="2142156"/>
            <a:ext cx="4600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https://youtu.be/xgC4rUMTiUE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675866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4754880" cy="47548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22960" y="2743200"/>
            <a:ext cx="3108960" cy="310896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54946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RUHAMO Rose  ·  Reg: 25RP21044  ·  RP Huye College  ·  MoMo Shield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757</Words>
  <Application>Microsoft Office PowerPoint</Application>
  <PresentationFormat>On-screen Show (16:9)</PresentationFormat>
  <Paragraphs>135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Mobile Money Fraud Detection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MoMo Shield – Mobile Money Fraud Detection</dc:title>
  <dc:subject>PptxGenJS Presentation</dc:subject>
  <dc:creator>PptxGenJS</dc:creator>
  <cp:lastModifiedBy>RUHAMO Rose</cp:lastModifiedBy>
  <cp:revision>15</cp:revision>
  <dcterms:created xsi:type="dcterms:W3CDTF">2026-06-06T07:29:01Z</dcterms:created>
  <dcterms:modified xsi:type="dcterms:W3CDTF">2026-06-08T10:00:58Z</dcterms:modified>
</cp:coreProperties>
</file>